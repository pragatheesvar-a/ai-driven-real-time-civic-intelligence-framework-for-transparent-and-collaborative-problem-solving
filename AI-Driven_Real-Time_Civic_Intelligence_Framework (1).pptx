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49149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Real-Time Civic Intelligence Framework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394552"/>
            <a:ext cx="4286250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Scalable Approach for Next-Generation Smart Cities and Participatory Governance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771525" y="3893344"/>
            <a:ext cx="47148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Pragatheesvar, S.S Mohamed Nifras, K. Poovarasan, S. Parthiban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771525" y="4296966"/>
            <a:ext cx="4714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AI and Data Science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Dhanalakshmi Srinivasan College of Engineering, Coimbatore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419" y="2143125"/>
            <a:ext cx="1071563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5433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&amp; Motivation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71525" y="2148818"/>
            <a:ext cx="33432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Objective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441711"/>
            <a:ext cx="33432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unified, citizen-inclusive platform for proactive and collaborative problem-solving in modern urban environments.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4543425" y="1085850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1200150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1085850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Urban Challenge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029200" y="1350169"/>
            <a:ext cx="35433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urbanization leads to traffic congestion, pollution, and infrastructure gaps that traditional systems fail to address.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543425" y="2118820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2233120"/>
            <a:ext cx="142875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0" y="2118820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Limitations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5029200" y="2383138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governance systems are fragmented, reactive, and lack real-time adaptability and transparency.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4543425" y="2971772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013" y="3086072"/>
            <a:ext cx="8572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2971772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5029200" y="3236091"/>
            <a:ext cx="35433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AI, IoT, and data-driven technologies to transform urban management into a collaborative ecosystem.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5433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71525" y="2148818"/>
            <a:ext cx="33432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Gap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441711"/>
            <a:ext cx="33432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digital platforms are fragmented and lack real-time collaboration, intelligent verification, and transparency.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4543425" y="1085850"/>
            <a:ext cx="342900" cy="3429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1200150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1085850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Platforms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029200" y="1350169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mechanisms for civic issues are often isolated and lack synergy between stakeholders.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543425" y="1938803"/>
            <a:ext cx="342900" cy="3429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2053103"/>
            <a:ext cx="142875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0" y="1938803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Transparency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5029200" y="2203121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Citizens often feel disconnected from the resolution process, reducing trust and accountability.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4543425" y="2791755"/>
            <a:ext cx="342900" cy="3429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2906055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2791755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Inefficient Verification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5029200" y="3056074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verification of reports is slow and prone to errors, leading to delayed responses.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4543425" y="3644708"/>
            <a:ext cx="342900" cy="3429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3759008"/>
            <a:ext cx="114300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29200" y="3644708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Redundancy</a:t>
            </a:r>
            <a:endParaRPr lang="en-US" sz="1193" dirty="0"/>
          </a:p>
        </p:txBody>
      </p:sp>
      <p:sp>
        <p:nvSpPr>
          <p:cNvPr id="22" name="Text 15"/>
          <p:cNvSpPr/>
          <p:nvPr/>
        </p:nvSpPr>
        <p:spPr>
          <a:xfrm>
            <a:off x="5029200" y="3909027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reports for the same issue lead to duplicated efforts and resource waste.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5433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System Overview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71525" y="2651727"/>
            <a:ext cx="33432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Vision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944620"/>
            <a:ext cx="33432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reactive governance to a proactive, intelligent, and adaptive ecosystem through AI-driven collaboration.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4543425" y="1085850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1085850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Ecosystem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029200" y="1350169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Seamlessly connects citizens, governments, and organizations within a single collaborative platform.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543425" y="1938803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2053103"/>
            <a:ext cx="114300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1938803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Technologies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5029200" y="2203121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Machine Learning (ML), Natural Language Processing (NLP), and IoT for real-time intelligence.</a:t>
            </a:r>
            <a:endParaRPr lang="en-US" sz="942" dirty="0"/>
          </a:p>
        </p:txBody>
      </p:sp>
      <p:sp>
        <p:nvSpPr>
          <p:cNvPr id="14" name="Shape 10"/>
          <p:cNvSpPr/>
          <p:nvPr/>
        </p:nvSpPr>
        <p:spPr>
          <a:xfrm>
            <a:off x="4543425" y="2791755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581" y="2906055"/>
            <a:ext cx="128588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29200" y="2791755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Participatory Governance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5029200" y="3056074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Empowers citizens through active reporting, feedback loops, and transparent prioritization mechanisms.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4543425" y="3644708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759008"/>
            <a:ext cx="114300" cy="114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29200" y="3644708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Goal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5029200" y="3909027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real-time identification, verification, and resolution of public issues before they escalate.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31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0861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71525" y="2148818"/>
            <a:ext cx="28860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Multi-Layered Design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441711"/>
            <a:ext cx="28860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scalable four-layer architecture ensures efficient data collection, processing, and real-time decision-making.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0" y="0"/>
            <a:ext cx="5486400" cy="516314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3943350" y="857250"/>
            <a:ext cx="46291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3943350" y="857250"/>
            <a:ext cx="57150" cy="785813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877" y="1204615"/>
            <a:ext cx="1714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50163" y="1052643"/>
            <a:ext cx="37080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Layer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4650163" y="1270527"/>
            <a:ext cx="37080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Flutter-based mobile apps and web dashboards for citizen reporting and authority monitoring.</a:t>
            </a:r>
            <a:endParaRPr lang="en-US" sz="834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417" y="1728788"/>
            <a:ext cx="125016" cy="14287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43350" y="2030611"/>
            <a:ext cx="46291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3943350" y="2030611"/>
            <a:ext cx="57150" cy="785813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600" y="2377976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22760" y="2226004"/>
            <a:ext cx="37354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Analytics Layer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4622760" y="2443888"/>
            <a:ext cx="373542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intelligence: CNNs for images, Transformers for text, and clustering for redundancy reduction.</a:t>
            </a:r>
            <a:endParaRPr lang="en-US" sz="834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417" y="2902148"/>
            <a:ext cx="125016" cy="14287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943350" y="3203972"/>
            <a:ext cx="46291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3"/>
          <p:cNvSpPr/>
          <p:nvPr/>
        </p:nvSpPr>
        <p:spPr>
          <a:xfrm>
            <a:off x="3943350" y="3203972"/>
            <a:ext cx="57150" cy="785813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1697" y="3551337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52953" y="3399365"/>
            <a:ext cx="37052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Processing Layer</a:t>
            </a:r>
            <a:endParaRPr lang="en-US" sz="1090" dirty="0"/>
          </a:p>
        </p:txBody>
      </p:sp>
      <p:sp>
        <p:nvSpPr>
          <p:cNvPr id="23" name="Text 15"/>
          <p:cNvSpPr/>
          <p:nvPr/>
        </p:nvSpPr>
        <p:spPr>
          <a:xfrm>
            <a:off x="4652953" y="3617249"/>
            <a:ext cx="370523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backend with PostgreSQL storage and Redis caching for high-volume real-time data.</a:t>
            </a:r>
            <a:endParaRPr lang="en-US" sz="834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5417" y="4075509"/>
            <a:ext cx="125016" cy="142875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3943350" y="4377333"/>
            <a:ext cx="46291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7"/>
          <p:cNvSpPr/>
          <p:nvPr/>
        </p:nvSpPr>
        <p:spPr>
          <a:xfrm>
            <a:off x="3943350" y="4377333"/>
            <a:ext cx="57150" cy="785813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6114" y="4724698"/>
            <a:ext cx="200025" cy="2286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673185" y="4572726"/>
            <a:ext cx="368500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Collection Layer</a:t>
            </a:r>
            <a:endParaRPr lang="en-US" sz="1090" dirty="0"/>
          </a:p>
        </p:txBody>
      </p:sp>
      <p:sp>
        <p:nvSpPr>
          <p:cNvPr id="29" name="Text 19"/>
          <p:cNvSpPr/>
          <p:nvPr/>
        </p:nvSpPr>
        <p:spPr>
          <a:xfrm>
            <a:off x="4673185" y="4790610"/>
            <a:ext cx="368500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heterogeneous data from citizens, IoT devices, and institutional databases.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0861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Machine Learning Models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71525" y="2651727"/>
            <a:ext cx="28860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Brain of the System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944620"/>
            <a:ext cx="28860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deep learning and unsupervised algorithms to automate verification and prioritization of civic issues.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3943350" y="714375"/>
            <a:ext cx="2207419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3943350" y="714375"/>
            <a:ext cx="28575" cy="157162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663" y="95011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57663" y="1319808"/>
            <a:ext cx="17787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Verification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4157663" y="1566267"/>
            <a:ext cx="177879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Convolutional Neural Networks (CNNs) for validating reported issues through visual data analysis.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6365081" y="714375"/>
            <a:ext cx="2207419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365081" y="714375"/>
            <a:ext cx="28575" cy="157162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394" y="950119"/>
            <a:ext cx="200025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79394" y="1319808"/>
            <a:ext cx="17787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Analysis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6579394" y="1566267"/>
            <a:ext cx="177879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Transformer-based NLP models for semantic analysis, sentiment detection, and issue classification.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3943350" y="2500313"/>
            <a:ext cx="2207419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3943350" y="2500313"/>
            <a:ext cx="28575" cy="157162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663" y="273605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57663" y="3105745"/>
            <a:ext cx="17787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Clustering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4157663" y="3352205"/>
            <a:ext cx="177879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DBSCAN and K-Means algorithms to group similar reports and eliminate redundancy in real-time.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6365081" y="2500313"/>
            <a:ext cx="2207419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6365081" y="2500313"/>
            <a:ext cx="28575" cy="157162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394" y="2736056"/>
            <a:ext cx="257175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79394" y="3105745"/>
            <a:ext cx="17787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Scoring</a:t>
            </a:r>
            <a:endParaRPr lang="en-US" sz="1090" dirty="0"/>
          </a:p>
        </p:txBody>
      </p:sp>
      <p:sp>
        <p:nvSpPr>
          <p:cNvPr id="26" name="Text 19"/>
          <p:cNvSpPr/>
          <p:nvPr/>
        </p:nvSpPr>
        <p:spPr>
          <a:xfrm>
            <a:off x="6579394" y="3352205"/>
            <a:ext cx="177879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model combining rule-based logic and supervised learning to rank issues by severity and impact.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5433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Implementation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71525" y="2148818"/>
            <a:ext cx="33432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Full-Stack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441711"/>
            <a:ext cx="33432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scalable and high-performance architecture designed for real-time responsiveness and cross-platform accessibility.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4543425" y="1085850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013" y="1200150"/>
            <a:ext cx="8572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1085850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Flutter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029200" y="1350169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Cross-platform mobile application for citizens, ensuring a seamless user experience across iOS and Android.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543425" y="1938803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053103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0" y="1938803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 FastAPI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5029200" y="2203121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High-performance Python-based API services for efficient data handling and lightweight communication.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4543425" y="2791755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2906055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2791755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Real-Time: WebSockets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5029200" y="3056074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data synchronization and live updates across the platform for immediate issue awareness.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4543425" y="3644708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3759008"/>
            <a:ext cx="142875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29200" y="3644708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Infrastructure</a:t>
            </a:r>
            <a:endParaRPr lang="en-US" sz="1193" dirty="0"/>
          </a:p>
        </p:txBody>
      </p:sp>
      <p:sp>
        <p:nvSpPr>
          <p:cNvPr id="22" name="Text 15"/>
          <p:cNvSpPr/>
          <p:nvPr/>
        </p:nvSpPr>
        <p:spPr>
          <a:xfrm>
            <a:off x="5029200" y="3909027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on AWS/Azure/GCP for global scalability, reliability, and robust data management.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0861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Participatory Governance &amp; Impact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71525" y="2794602"/>
            <a:ext cx="28860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Trust Factor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3087495"/>
            <a:ext cx="2886075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involving citizens directly in the governance loop, the framework bridges the gap between authorities and the public, fostering a culture of shared responsibility.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4086225" y="714375"/>
            <a:ext cx="428625" cy="4286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522" y="828675"/>
            <a:ext cx="250031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86225" y="1285875"/>
            <a:ext cx="21002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Engagement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4086225" y="1546622"/>
            <a:ext cx="210026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participation through real-time issue reporting, community voting, and feedback loops on resolution quality.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6472238" y="714375"/>
            <a:ext cx="428625" cy="4286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538" y="828675"/>
            <a:ext cx="200025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72238" y="1285875"/>
            <a:ext cx="21002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6472238" y="1546622"/>
            <a:ext cx="210026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Public-facing dashboards provide live updates on issue status, resource allocation, and government response times.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4086225" y="2472407"/>
            <a:ext cx="428625" cy="428625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Text 11"/>
          <p:cNvSpPr/>
          <p:nvPr/>
        </p:nvSpPr>
        <p:spPr>
          <a:xfrm>
            <a:off x="4086225" y="3043907"/>
            <a:ext cx="21002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Accountability</a:t>
            </a:r>
            <a:endParaRPr lang="en-US" sz="1090" dirty="0"/>
          </a:p>
        </p:txBody>
      </p:sp>
      <p:sp>
        <p:nvSpPr>
          <p:cNvPr id="17" name="Text 12"/>
          <p:cNvSpPr/>
          <p:nvPr/>
        </p:nvSpPr>
        <p:spPr>
          <a:xfrm>
            <a:off x="4086225" y="3304654"/>
            <a:ext cx="210026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tracking of organizational actions ensures that reported problems are addressed systematically and visibly.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6472238" y="2472407"/>
            <a:ext cx="428625" cy="428625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534" y="2586707"/>
            <a:ext cx="250031" cy="2000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72238" y="3043907"/>
            <a:ext cx="21002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Outcome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6472238" y="3304654"/>
            <a:ext cx="210026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trust and collaboration between citizens and authorities through a transparent, data-driven ecosystem.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0861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Future Work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71525" y="2291693"/>
            <a:ext cx="28860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Resilience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584586"/>
            <a:ext cx="28860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Addressing current technical hurdles while integrating emerging technologies to ensure long-term scalability and trust.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735806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93406" y="714375"/>
            <a:ext cx="192166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Challenges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4257675" y="1128713"/>
            <a:ext cx="43148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Privacy: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Handling sensitive citizen data and location inputs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securely.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4257675" y="1603046"/>
            <a:ext cx="43148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Interoperability: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Integrating heterogeneous data sources and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silos.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4257675" y="2077380"/>
            <a:ext cx="43148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Quality: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Managing noisy or false inputs to maintain AI model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accuracy.</a:t>
            </a:r>
            <a:endParaRPr lang="en-US" sz="88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225" y="2801745"/>
            <a:ext cx="200025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93406" y="2780314"/>
            <a:ext cx="170199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Directions</a:t>
            </a:r>
            <a:endParaRPr lang="en-US" sz="1397" dirty="0"/>
          </a:p>
        </p:txBody>
      </p:sp>
      <p:sp>
        <p:nvSpPr>
          <p:cNvPr id="14" name="Text 9"/>
          <p:cNvSpPr/>
          <p:nvPr/>
        </p:nvSpPr>
        <p:spPr>
          <a:xfrm>
            <a:off x="4257675" y="3194652"/>
            <a:ext cx="43148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Blockchain: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tamper-proof data management and enhanced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trust.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4257675" y="3668985"/>
            <a:ext cx="43148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Twins: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Simulating urban environments for proactive policy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evaluation.</a:t>
            </a:r>
            <a:endParaRPr lang="en-US" sz="885" dirty="0"/>
          </a:p>
        </p:txBody>
      </p:sp>
      <p:sp>
        <p:nvSpPr>
          <p:cNvPr id="16" name="Text 11"/>
          <p:cNvSpPr/>
          <p:nvPr/>
        </p:nvSpPr>
        <p:spPr>
          <a:xfrm>
            <a:off x="4257675" y="4143319"/>
            <a:ext cx="43148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Computing: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Reducing latency for faster real-time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responsiveness.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5433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71525" y="1788784"/>
            <a:ext cx="33432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Future of Governance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081678"/>
            <a:ext cx="33432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urban challenges into collaborative opportunities through AI-driven intelligence and transparent, citizen-centric governance models.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Shape 4"/>
          <p:cNvSpPr/>
          <p:nvPr/>
        </p:nvSpPr>
        <p:spPr>
          <a:xfrm>
            <a:off x="4543425" y="1143000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1257300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1143000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Ecosystems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029200" y="1407319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novel, end-to-end framework that integrates AI, IoT, and real-time analytics for smart city advancement.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543425" y="2053103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013" y="2167403"/>
            <a:ext cx="85725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0" y="2053103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Efficiency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5029200" y="2317421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potential to improve issue detection, reduce redundancy, and accelerate response times.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4543425" y="2963205"/>
            <a:ext cx="342900" cy="3429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077505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2963205"/>
            <a:ext cx="3543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&amp; Resilient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5029200" y="3227524"/>
            <a:ext cx="35433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robust architecture designed to handle the dynamic and interconnected nature of modern urban environments.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2026-04-07T08:55:58Z</dcterms:created>
  <dcterms:modified xsi:type="dcterms:W3CDTF">2026-04-07T08:55:58Z</dcterms:modified>
</cp:coreProperties>
</file>